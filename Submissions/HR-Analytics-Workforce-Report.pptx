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embeddedFontLst>
    <p:embeddedFont>
      <p:font typeface="Parkinsans SemiBold" panose="020B0604020202020204" charset="0"/>
      <p:regular r:id="rId9"/>
    </p:embeddedFont>
    <p:embeddedFont>
      <p:font typeface="Reddit Sans" panose="020B0604020202020204" charset="0"/>
      <p:regular r:id="rId10"/>
    </p:embeddedFont>
    <p:embeddedFont>
      <p:font typeface="Reddit Sans SemiBold" panose="020B0604020202020204" charset="0"/>
      <p:regular r:id="rId1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9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med Badde" userId="aa57db77e694c206" providerId="LiveId" clId="{97D0ED2E-0517-44C5-B54E-F991C6225D5B}"/>
    <pc:docChg chg="modSld">
      <pc:chgData name="Sammed Badde" userId="aa57db77e694c206" providerId="LiveId" clId="{97D0ED2E-0517-44C5-B54E-F991C6225D5B}" dt="2026-10-30T06:56:00.711" v="10" actId="22"/>
      <pc:docMkLst>
        <pc:docMk/>
      </pc:docMkLst>
      <pc:sldChg chg="addSp modSp mod">
        <pc:chgData name="Sammed Badde" userId="aa57db77e694c206" providerId="LiveId" clId="{97D0ED2E-0517-44C5-B54E-F991C6225D5B}" dt="2026-10-30T06:55:49.260" v="6" actId="14100"/>
        <pc:sldMkLst>
          <pc:docMk/>
          <pc:sldMk cId="0" sldId="257"/>
        </pc:sldMkLst>
        <pc:spChg chg="add mod">
          <ac:chgData name="Sammed Badde" userId="aa57db77e694c206" providerId="LiveId" clId="{97D0ED2E-0517-44C5-B54E-F991C6225D5B}" dt="2026-10-30T06:55:49.260" v="6" actId="14100"/>
          <ac:spMkLst>
            <pc:docMk/>
            <pc:sldMk cId="0" sldId="257"/>
            <ac:spMk id="16" creationId="{7A7F49C0-7D83-51B0-D20B-979D7D4C6F63}"/>
          </ac:spMkLst>
        </pc:spChg>
      </pc:sldChg>
      <pc:sldChg chg="addSp mod">
        <pc:chgData name="Sammed Badde" userId="aa57db77e694c206" providerId="LiveId" clId="{97D0ED2E-0517-44C5-B54E-F991C6225D5B}" dt="2026-10-30T06:55:54.653" v="7" actId="22"/>
        <pc:sldMkLst>
          <pc:docMk/>
          <pc:sldMk cId="0" sldId="258"/>
        </pc:sldMkLst>
        <pc:spChg chg="add">
          <ac:chgData name="Sammed Badde" userId="aa57db77e694c206" providerId="LiveId" clId="{97D0ED2E-0517-44C5-B54E-F991C6225D5B}" dt="2026-10-30T06:55:54.653" v="7" actId="22"/>
          <ac:spMkLst>
            <pc:docMk/>
            <pc:sldMk cId="0" sldId="258"/>
            <ac:spMk id="9" creationId="{D25C3B01-3BB5-DFA3-799D-4714D08B7EBF}"/>
          </ac:spMkLst>
        </pc:spChg>
      </pc:sldChg>
      <pc:sldChg chg="addSp mod">
        <pc:chgData name="Sammed Badde" userId="aa57db77e694c206" providerId="LiveId" clId="{97D0ED2E-0517-44C5-B54E-F991C6225D5B}" dt="2026-10-30T06:55:56.486" v="8" actId="22"/>
        <pc:sldMkLst>
          <pc:docMk/>
          <pc:sldMk cId="0" sldId="259"/>
        </pc:sldMkLst>
        <pc:spChg chg="add">
          <ac:chgData name="Sammed Badde" userId="aa57db77e694c206" providerId="LiveId" clId="{97D0ED2E-0517-44C5-B54E-F991C6225D5B}" dt="2026-10-30T06:55:56.486" v="8" actId="22"/>
          <ac:spMkLst>
            <pc:docMk/>
            <pc:sldMk cId="0" sldId="259"/>
            <ac:spMk id="13" creationId="{061848E2-0E8A-A9BC-BD37-CDD57B0B044A}"/>
          </ac:spMkLst>
        </pc:spChg>
      </pc:sldChg>
      <pc:sldChg chg="addSp mod">
        <pc:chgData name="Sammed Badde" userId="aa57db77e694c206" providerId="LiveId" clId="{97D0ED2E-0517-44C5-B54E-F991C6225D5B}" dt="2026-10-30T06:55:58.982" v="9" actId="22"/>
        <pc:sldMkLst>
          <pc:docMk/>
          <pc:sldMk cId="0" sldId="260"/>
        </pc:sldMkLst>
        <pc:spChg chg="add">
          <ac:chgData name="Sammed Badde" userId="aa57db77e694c206" providerId="LiveId" clId="{97D0ED2E-0517-44C5-B54E-F991C6225D5B}" dt="2026-10-30T06:55:58.982" v="9" actId="22"/>
          <ac:spMkLst>
            <pc:docMk/>
            <pc:sldMk cId="0" sldId="260"/>
            <ac:spMk id="8" creationId="{FC1B8A81-1306-0C96-C487-32FAE1BA246F}"/>
          </ac:spMkLst>
        </pc:spChg>
      </pc:sldChg>
      <pc:sldChg chg="addSp mod">
        <pc:chgData name="Sammed Badde" userId="aa57db77e694c206" providerId="LiveId" clId="{97D0ED2E-0517-44C5-B54E-F991C6225D5B}" dt="2026-10-30T06:56:00.711" v="10" actId="22"/>
        <pc:sldMkLst>
          <pc:docMk/>
          <pc:sldMk cId="0" sldId="261"/>
        </pc:sldMkLst>
        <pc:spChg chg="add">
          <ac:chgData name="Sammed Badde" userId="aa57db77e694c206" providerId="LiveId" clId="{97D0ED2E-0517-44C5-B54E-F991C6225D5B}" dt="2026-10-30T06:56:00.711" v="10" actId="22"/>
          <ac:spMkLst>
            <pc:docMk/>
            <pc:sldMk cId="0" sldId="261"/>
            <ac:spMk id="20" creationId="{934521F8-B0A2-665E-3F4C-745A11803BB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5518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5166" y="1154113"/>
            <a:ext cx="7489638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100" spc="7" dirty="0">
                <a:solidFill>
                  <a:srgbClr val="35233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0"/>
              </a:rPr>
              <a:t>Dashboard findings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65166" y="1515555"/>
            <a:ext cx="6880053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5400" kern="100" spc="-97" dirty="0">
                <a:solidFill>
                  <a:srgbClr val="35233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0"/>
              </a:rPr>
              <a:t>HR Analytics</a:t>
            </a:r>
            <a:endParaRPr lang="en-US" sz="5400" dirty="0"/>
          </a:p>
          <a:p>
            <a:pPr marL="0" indent="0" algn="l">
              <a:lnSpc>
                <a:spcPct val="87000"/>
              </a:lnSpc>
              <a:buNone/>
            </a:pPr>
            <a:r>
              <a:rPr lang="en-US" sz="5400" kern="100" spc="-97" dirty="0">
                <a:solidFill>
                  <a:srgbClr val="35233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0"/>
              </a:rPr>
              <a:t>Workforce Report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65166" y="3075781"/>
            <a:ext cx="6880053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0"/>
              </a:rPr>
              <a:t>Dashboard findings and recommended next steps.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65166" y="3582194"/>
            <a:ext cx="2270366" cy="31651"/>
          </a:xfrm>
          <a:prstGeom prst="roundRect">
            <a:avLst>
              <a:gd name="adj" fmla="val 49998"/>
            </a:avLst>
          </a:prstGeom>
          <a:solidFill>
            <a:srgbClr val="8054D9"/>
          </a:solidFill>
          <a:ln/>
        </p:spPr>
      </p:sp>
      <p:sp>
        <p:nvSpPr>
          <p:cNvPr id="6" name="Text 4"/>
          <p:cNvSpPr/>
          <p:nvPr/>
        </p:nvSpPr>
        <p:spPr>
          <a:xfrm>
            <a:off x="865166" y="3899138"/>
            <a:ext cx="5356091" cy="911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The dashboard shows workforce size, employee mix, department and state distribution, and hiring records by year.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2747"/>
            <a:ext cx="10972526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100" spc="-38" dirty="0">
                <a:solidFill>
                  <a:srgbClr val="35233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0"/>
              </a:rPr>
              <a:t>Key measures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38179" y="1944199"/>
            <a:ext cx="5029074" cy="845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6400" kern="100" spc="-115" dirty="0">
                <a:solidFill>
                  <a:srgbClr val="35233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0"/>
              </a:rPr>
              <a:t>19K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838179" y="2921397"/>
            <a:ext cx="5257668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Active employees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324442" y="1944199"/>
            <a:ext cx="5029074" cy="845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6400" kern="100" spc="-115" dirty="0">
                <a:solidFill>
                  <a:srgbClr val="35233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0"/>
              </a:rPr>
              <a:t>42.03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6324442" y="2921397"/>
            <a:ext cx="5257668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Average age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38179" y="3963876"/>
            <a:ext cx="5029074" cy="713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5400" kern="100" spc="-97" dirty="0">
                <a:solidFill>
                  <a:srgbClr val="35233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0"/>
              </a:rPr>
              <a:t>75.02%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838179" y="4818856"/>
            <a:ext cx="5257668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HQ share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324442" y="3963876"/>
            <a:ext cx="5029074" cy="713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5400" kern="100" spc="-97" dirty="0">
                <a:solidFill>
                  <a:srgbClr val="35233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0"/>
              </a:rPr>
              <a:t>24.98%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6324442" y="4818856"/>
            <a:ext cx="5257668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Remote share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09585" y="6015157"/>
            <a:ext cx="1158211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5E4B68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Note: 19K is rounded. The dashboard shows no exact count and no as-of date.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89498" y="1564977"/>
            <a:ext cx="12700" cy="2029520"/>
          </a:xfrm>
          <a:prstGeom prst="rect">
            <a:avLst/>
          </a:prstGeom>
          <a:solidFill>
            <a:srgbClr val="8054D9"/>
          </a:solidFill>
          <a:ln/>
        </p:spPr>
      </p:sp>
      <p:sp>
        <p:nvSpPr>
          <p:cNvPr id="13" name="Shape 11"/>
          <p:cNvSpPr/>
          <p:nvPr/>
        </p:nvSpPr>
        <p:spPr>
          <a:xfrm>
            <a:off x="609585" y="3588147"/>
            <a:ext cx="5486263" cy="12700"/>
          </a:xfrm>
          <a:prstGeom prst="rect">
            <a:avLst/>
          </a:prstGeom>
          <a:solidFill>
            <a:srgbClr val="8054D9"/>
          </a:solidFill>
          <a:ln/>
        </p:spPr>
      </p:sp>
      <p:sp>
        <p:nvSpPr>
          <p:cNvPr id="14" name="Shape 12"/>
          <p:cNvSpPr/>
          <p:nvPr/>
        </p:nvSpPr>
        <p:spPr>
          <a:xfrm>
            <a:off x="6089498" y="3594497"/>
            <a:ext cx="12700" cy="1897459"/>
          </a:xfrm>
          <a:prstGeom prst="rect">
            <a:avLst/>
          </a:prstGeom>
          <a:solidFill>
            <a:srgbClr val="8054D9"/>
          </a:solidFill>
          <a:ln/>
        </p:spPr>
      </p:sp>
      <p:sp>
        <p:nvSpPr>
          <p:cNvPr id="15" name="Shape 13"/>
          <p:cNvSpPr/>
          <p:nvPr/>
        </p:nvSpPr>
        <p:spPr>
          <a:xfrm>
            <a:off x="6095848" y="3588147"/>
            <a:ext cx="5486263" cy="12700"/>
          </a:xfrm>
          <a:prstGeom prst="rect">
            <a:avLst/>
          </a:prstGeom>
          <a:solidFill>
            <a:srgbClr val="8054D9"/>
          </a:solidFill>
          <a:ln/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7F49C0-7D83-51B0-D20B-979D7D4C6F63}"/>
              </a:ext>
            </a:extLst>
          </p:cNvPr>
          <p:cNvSpPr/>
          <p:nvPr/>
        </p:nvSpPr>
        <p:spPr>
          <a:xfrm>
            <a:off x="11000793" y="6522098"/>
            <a:ext cx="1101012" cy="256270"/>
          </a:xfrm>
          <a:prstGeom prst="rect">
            <a:avLst/>
          </a:prstGeom>
          <a:solidFill>
            <a:srgbClr val="FFF9F2"/>
          </a:solidFill>
          <a:ln>
            <a:solidFill>
              <a:srgbClr val="FFF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rgbClr val="FFF9F2"/>
                </a:solidFill>
              </a:ln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06389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73483" y="627170"/>
            <a:ext cx="6908627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100" spc="-38" dirty="0">
                <a:solidFill>
                  <a:srgbClr val="35233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0"/>
              </a:rPr>
              <a:t>Employee mix</a:t>
            </a:r>
            <a:endParaRPr lang="en-US" sz="32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3483" y="1220192"/>
            <a:ext cx="6857828" cy="3175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673483" y="4480917"/>
            <a:ext cx="6908627" cy="667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1450"/>
              </a:spcAft>
              <a:buNone/>
            </a:pPr>
            <a:r>
              <a:rPr lang="en-US" sz="1400" dirty="0">
                <a:solidFill>
                  <a:srgbClr val="5E4B68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Female: 50.92% · Male: 46.3% · Third category: 2.78%</a:t>
            </a:r>
            <a:endParaRPr lang="en-US" sz="14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5E4B68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The third category label is cut off in the screenshot; its full name is not shown.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4673483" y="5386388"/>
            <a:ext cx="2279692" cy="31651"/>
          </a:xfrm>
          <a:prstGeom prst="roundRect">
            <a:avLst>
              <a:gd name="adj" fmla="val 49998"/>
            </a:avLst>
          </a:prstGeom>
          <a:solidFill>
            <a:srgbClr val="8054D9"/>
          </a:solidFill>
          <a:ln/>
        </p:spPr>
      </p:sp>
      <p:sp>
        <p:nvSpPr>
          <p:cNvPr id="7" name="Text 3"/>
          <p:cNvSpPr/>
          <p:nvPr/>
        </p:nvSpPr>
        <p:spPr>
          <a:xfrm>
            <a:off x="4673483" y="5656501"/>
            <a:ext cx="6908627" cy="607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White is the largest race category displayed. The dashboard gives no exact race counts here.</a:t>
            </a:r>
            <a:endParaRPr lang="en-US" sz="16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5C3B01-3BB5-DFA3-799D-4714D08B7EBF}"/>
              </a:ext>
            </a:extLst>
          </p:cNvPr>
          <p:cNvSpPr/>
          <p:nvPr/>
        </p:nvSpPr>
        <p:spPr>
          <a:xfrm>
            <a:off x="11000793" y="6522098"/>
            <a:ext cx="1101012" cy="256270"/>
          </a:xfrm>
          <a:prstGeom prst="rect">
            <a:avLst/>
          </a:prstGeom>
          <a:solidFill>
            <a:srgbClr val="FFF9F2"/>
          </a:solidFill>
          <a:ln>
            <a:solidFill>
              <a:srgbClr val="FFF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rgbClr val="FFF9F2"/>
                </a:solidFill>
              </a:ln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2747"/>
            <a:ext cx="10972526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100" spc="-38" dirty="0">
                <a:solidFill>
                  <a:srgbClr val="35233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0"/>
              </a:rPr>
              <a:t>Department and state distribution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377" y="2431256"/>
            <a:ext cx="518147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100" spc="7" dirty="0">
                <a:solidFill>
                  <a:srgbClr val="8054D9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0"/>
              </a:rPr>
              <a:t>Department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377" y="2778093"/>
            <a:ext cx="4876678" cy="581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kern="100" spc="-79" dirty="0">
                <a:solidFill>
                  <a:srgbClr val="35233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0"/>
              </a:rPr>
              <a:t>Engineering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377" y="3515618"/>
            <a:ext cx="4876678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Engineering is the largest department shown. Accounting is next.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640" y="2431256"/>
            <a:ext cx="518147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100" spc="7" dirty="0">
                <a:solidFill>
                  <a:srgbClr val="8054D9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0"/>
              </a:rPr>
              <a:t>State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640" y="2778093"/>
            <a:ext cx="4876678" cy="581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kern="100" spc="-79" dirty="0">
                <a:solidFill>
                  <a:srgbClr val="35233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0"/>
              </a:rPr>
              <a:t>Ohio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640" y="3515618"/>
            <a:ext cx="4876678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Ohio is much larger than the other states shown.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09585" y="5674717"/>
            <a:ext cx="3620798" cy="31651"/>
          </a:xfrm>
          <a:prstGeom prst="roundRect">
            <a:avLst>
              <a:gd name="adj" fmla="val 49998"/>
            </a:avLst>
          </a:prstGeom>
          <a:solidFill>
            <a:srgbClr val="8054D9"/>
          </a:solidFill>
          <a:ln/>
        </p:spPr>
      </p:sp>
      <p:sp>
        <p:nvSpPr>
          <p:cNvPr id="10" name="Text 8"/>
          <p:cNvSpPr/>
          <p:nvPr/>
        </p:nvSpPr>
        <p:spPr>
          <a:xfrm>
            <a:off x="609585" y="5944830"/>
            <a:ext cx="11582110" cy="303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These are patterns on the dashboard. They do not explain why the differences exist.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089498" y="2064544"/>
            <a:ext cx="12700" cy="2543274"/>
          </a:xfrm>
          <a:prstGeom prst="rect">
            <a:avLst/>
          </a:prstGeom>
          <a:solidFill>
            <a:srgbClr val="8054D9"/>
          </a:solidFill>
          <a:ln/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1848E2-0E8A-A9BC-BD37-CDD57B0B044A}"/>
              </a:ext>
            </a:extLst>
          </p:cNvPr>
          <p:cNvSpPr/>
          <p:nvPr/>
        </p:nvSpPr>
        <p:spPr>
          <a:xfrm>
            <a:off x="11000793" y="6522098"/>
            <a:ext cx="1101012" cy="256270"/>
          </a:xfrm>
          <a:prstGeom prst="rect">
            <a:avLst/>
          </a:prstGeom>
          <a:solidFill>
            <a:srgbClr val="FFF9F2"/>
          </a:solidFill>
          <a:ln>
            <a:solidFill>
              <a:srgbClr val="FFF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rgbClr val="FFF9F2"/>
                </a:solidFill>
              </a:ln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2747"/>
            <a:ext cx="10972526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100" spc="-38" dirty="0">
                <a:solidFill>
                  <a:srgbClr val="35233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0"/>
              </a:rPr>
              <a:t>Hiring records by year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261487"/>
            <a:ext cx="1158211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5E4B68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Approximate hiring records by year. All values are estimated from the line chart.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682155"/>
            <a:ext cx="10667733" cy="304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4917718"/>
            <a:ext cx="10972526" cy="607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2000: about 220 records (approximate). 2001 to 2019: roughly 1.05K to 1.14K per year (approximate). 2020: about 1.01K (approximate).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09585" y="5712420"/>
            <a:ext cx="10972526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The middle bars show the low and high estimates for 2001 to 2019, not individual years. The dashboard does not say if 2000 and 2020 are full years.</a:t>
            </a:r>
            <a:endParaRPr lang="en-US" sz="2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1B8A81-1306-0C96-C487-32FAE1BA246F}"/>
              </a:ext>
            </a:extLst>
          </p:cNvPr>
          <p:cNvSpPr/>
          <p:nvPr/>
        </p:nvSpPr>
        <p:spPr>
          <a:xfrm>
            <a:off x="11000793" y="6522098"/>
            <a:ext cx="1101012" cy="256270"/>
          </a:xfrm>
          <a:prstGeom prst="rect">
            <a:avLst/>
          </a:prstGeom>
          <a:solidFill>
            <a:srgbClr val="FFF9F2"/>
          </a:solidFill>
          <a:ln>
            <a:solidFill>
              <a:srgbClr val="FFF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rgbClr val="FFF9F2"/>
                </a:solidFill>
              </a:ln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2747"/>
            <a:ext cx="10972526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100" spc="-38" dirty="0">
                <a:solidFill>
                  <a:srgbClr val="35233F"/>
                </a:solidFill>
                <a:latin typeface="Parkinsans SemiBold" pitchFamily="34" charset="0"/>
                <a:ea typeface="Parkinsans SemiBold" pitchFamily="34" charset="-122"/>
                <a:cs typeface="Parkinsans SemiBold" pitchFamily="34" charset="0"/>
              </a:rPr>
              <a:t>Recommended checks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585" y="1486595"/>
            <a:ext cx="86457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8054D9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0"/>
              </a:rPr>
              <a:t>01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2366" y="1407220"/>
            <a:ext cx="10539744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Confirm the exact active employee count, date, and filters.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9585" y="2159695"/>
            <a:ext cx="86457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8054D9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0"/>
              </a:rPr>
              <a:t>02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042366" y="2080320"/>
            <a:ext cx="10539744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Check what the HQ and state fields mean.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9585" y="2832795"/>
            <a:ext cx="86457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8054D9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0"/>
              </a:rPr>
              <a:t>03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42366" y="2753420"/>
            <a:ext cx="10539744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Confirm whether 2000 and 2020 are full years.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09585" y="3505895"/>
            <a:ext cx="86457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8054D9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0"/>
              </a:rPr>
              <a:t>04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042366" y="3426520"/>
            <a:ext cx="10539744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Show the full gender category name and demographic denominators.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09585" y="4178995"/>
            <a:ext cx="86457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8054D9"/>
                </a:solidFill>
                <a:latin typeface="Reddit Sans SemiBold" pitchFamily="34" charset="0"/>
                <a:ea typeface="Reddit Sans SemiBold" pitchFamily="34" charset="-122"/>
                <a:cs typeface="Reddit Sans SemiBold" pitchFamily="34" charset="0"/>
              </a:rPr>
              <a:t>05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042366" y="4099620"/>
            <a:ext cx="10539744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35233F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Add turnover, exits, tenure, and headcount change for more context.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09585" y="5285184"/>
            <a:ext cx="10972526" cy="963216"/>
          </a:xfrm>
          <a:prstGeom prst="roundRect">
            <a:avLst>
              <a:gd name="adj" fmla="val 22150"/>
            </a:avLst>
          </a:prstGeom>
          <a:solidFill>
            <a:srgbClr val="ECE3FA"/>
          </a:solidFill>
          <a:ln/>
        </p:spPr>
      </p:sp>
      <p:sp>
        <p:nvSpPr>
          <p:cNvPr id="14" name="Text 12"/>
          <p:cNvSpPr/>
          <p:nvPr/>
        </p:nvSpPr>
        <p:spPr>
          <a:xfrm>
            <a:off x="838179" y="5463223"/>
            <a:ext cx="10515337" cy="607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Reddit Sans" pitchFamily="34" charset="0"/>
                <a:ea typeface="Reddit Sans" pitchFamily="34" charset="-122"/>
                <a:cs typeface="Reddit Sans" pitchFamily="34" charset="0"/>
              </a:rPr>
              <a:t>Note: the hiring chart is labeled "Employee Records by Hire Year." The other distribution charts are labeled "Active Employees." Do not assume they use the same employee population.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609585" y="1921570"/>
            <a:ext cx="10972526" cy="12700"/>
          </a:xfrm>
          <a:prstGeom prst="rect">
            <a:avLst/>
          </a:prstGeom>
          <a:solidFill>
            <a:srgbClr val="8054D9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585" y="2594670"/>
            <a:ext cx="10972526" cy="12700"/>
          </a:xfrm>
          <a:prstGeom prst="rect">
            <a:avLst/>
          </a:prstGeom>
          <a:solidFill>
            <a:srgbClr val="8054D9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585" y="3267770"/>
            <a:ext cx="10972526" cy="12700"/>
          </a:xfrm>
          <a:prstGeom prst="rect">
            <a:avLst/>
          </a:prstGeom>
          <a:solidFill>
            <a:srgbClr val="8054D9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585" y="3940870"/>
            <a:ext cx="10972526" cy="12700"/>
          </a:xfrm>
          <a:prstGeom prst="rect">
            <a:avLst/>
          </a:prstGeom>
          <a:solidFill>
            <a:srgbClr val="8054D9"/>
          </a:solidFill>
          <a:ln/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34521F8-B0A2-665E-3F4C-745A11803BBB}"/>
              </a:ext>
            </a:extLst>
          </p:cNvPr>
          <p:cNvSpPr/>
          <p:nvPr/>
        </p:nvSpPr>
        <p:spPr>
          <a:xfrm>
            <a:off x="11000793" y="6522098"/>
            <a:ext cx="1101012" cy="256270"/>
          </a:xfrm>
          <a:prstGeom prst="rect">
            <a:avLst/>
          </a:prstGeom>
          <a:solidFill>
            <a:srgbClr val="FFF9F2"/>
          </a:solidFill>
          <a:ln>
            <a:solidFill>
              <a:srgbClr val="FFF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rgbClr val="FFF9F2"/>
                </a:solidFill>
              </a:ln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342</Words>
  <Application>Microsoft Office PowerPoint</Application>
  <PresentationFormat>Widescreen</PresentationFormat>
  <Paragraphs>49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Parkinsans SemiBold</vt:lpstr>
      <vt:lpstr>Reddit Sans</vt:lpstr>
      <vt:lpstr>Reddit Sans SemiBold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Sammed Badde</cp:lastModifiedBy>
  <cp:revision>1</cp:revision>
  <dcterms:created xsi:type="dcterms:W3CDTF">2026-10-30T06:53:44Z</dcterms:created>
  <dcterms:modified xsi:type="dcterms:W3CDTF">2026-10-30T06:56:02Z</dcterms:modified>
</cp:coreProperties>
</file>